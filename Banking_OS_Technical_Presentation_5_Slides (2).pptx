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1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4742" y="130629"/>
            <a:ext cx="11560629" cy="1088571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482340" y="191262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28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CSA0408 - Operating Systems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55370" y="2922270"/>
            <a:ext cx="1023556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2700" b="1">
                <a:solidFill>
                  <a:srgbClr val="162744"/>
                </a:solidFill>
              </a:defRPr>
            </a:pPr>
            <a:r>
              <a:rPr>
                <a:sym typeface="+mn-ea"/>
              </a:rPr>
              <a:t>Operating System for High-Volume Banking Transactions</a:t>
            </a:r>
            <a:endParaRPr lang="en-US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495540" y="46901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Presented by : Fathima Shafreena.F</a:t>
            </a:r>
          </a:p>
          <a:p>
            <a:r>
              <a:rPr lang="en-US"/>
              <a:t>                         192511381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4"/>
                </a:solidFill>
              </a:defRPr>
            </a:pPr>
            <a:r>
              <a:t>Operating System for High-Volume Banking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978"/>
                </a:solidFill>
              </a:defRPr>
            </a:pPr>
            <a:r>
              <a:t>Types of OS, OS structure and system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4160520" cy="658368"/>
          </a:xfrm>
          <a:prstGeom prst="roundRect">
            <a:avLst/>
          </a:prstGeom>
          <a:solidFill>
            <a:srgbClr val="E5EFFA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62744"/>
                </a:solidFill>
              </a:defRPr>
            </a:pPr>
            <a:r>
              <a:t>BANKING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C1C1E"/>
                </a:solidFill>
              </a:defRPr>
            </a:pPr>
            <a:r>
              <a:t>• Thousands of customers may initiate transactions simultaneously.</a:t>
            </a:r>
          </a:p>
          <a:p>
            <a:pPr>
              <a:spcAft>
                <a:spcPts val="900"/>
              </a:spcAft>
              <a:defRPr sz="1500">
                <a:solidFill>
                  <a:srgbClr val="1C1C1E"/>
                </a:solidFill>
              </a:defRPr>
            </a:pPr>
            <a:r>
              <a:t>• OS must support concurrency, security, reliability and fast I/O.</a:t>
            </a:r>
          </a:p>
          <a:p>
            <a:pPr>
              <a:spcAft>
                <a:spcPts val="900"/>
              </a:spcAft>
              <a:defRPr sz="1500">
                <a:solidFill>
                  <a:srgbClr val="1C1C1E"/>
                </a:solidFill>
              </a:defRPr>
            </a:pPr>
            <a:r>
              <a:t>• Transactions include deposit, withdrawal, transfer and balance enquiry.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325880"/>
            <a:ext cx="182880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Customers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0" y="1636776"/>
            <a:ext cx="59436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909560" y="1325880"/>
            <a:ext cx="182880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Banking Apps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38360" y="1636776"/>
            <a:ext cx="54864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287000" y="1325880"/>
            <a:ext cx="1234440" cy="621792"/>
          </a:xfrm>
          <a:prstGeom prst="roundRect">
            <a:avLst/>
          </a:prstGeom>
          <a:solidFill>
            <a:srgbClr val="E5EFFA"/>
          </a:solidFill>
          <a:ln w="17780"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423160"/>
            <a:ext cx="603504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62744"/>
                </a:solidFill>
              </a:defRPr>
            </a:pPr>
            <a:r>
              <a:t>Concurrent Transaction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3474720"/>
            <a:ext cx="13258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744"/>
                </a:solidFill>
              </a:defRPr>
            </a:pPr>
            <a:r>
              <a:t>Account 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90488" y="3127248"/>
            <a:ext cx="0" cy="347472"/>
          </a:xfrm>
          <a:prstGeom prst="line">
            <a:avLst/>
          </a:prstGeom>
          <a:ln w="19050">
            <a:solidFill>
              <a:srgbClr val="306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13448" y="3474720"/>
            <a:ext cx="13258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C9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744"/>
                </a:solidFill>
              </a:defRPr>
            </a:pPr>
            <a:r>
              <a:t>Account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71816" y="3127248"/>
            <a:ext cx="0" cy="347472"/>
          </a:xfrm>
          <a:prstGeom prst="line">
            <a:avLst/>
          </a:prstGeom>
          <a:ln w="19050">
            <a:solidFill>
              <a:srgbClr val="4C9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94776" y="3474720"/>
            <a:ext cx="13258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744"/>
                </a:solidFill>
              </a:defRPr>
            </a:pPr>
            <a:r>
              <a:t>Account 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53144" y="3127248"/>
            <a:ext cx="0" cy="347472"/>
          </a:xfrm>
          <a:prstGeom prst="line">
            <a:avLst/>
          </a:prstGeom>
          <a:ln w="19050">
            <a:solidFill>
              <a:srgbClr val="E17E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76104" y="3474720"/>
            <a:ext cx="132588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A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744"/>
                </a:solidFill>
              </a:defRPr>
            </a:pPr>
            <a:r>
              <a:t>Account 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34472" y="3127248"/>
            <a:ext cx="0" cy="347472"/>
          </a:xfrm>
          <a:prstGeom prst="line">
            <a:avLst/>
          </a:prstGeom>
          <a:ln w="19050">
            <a:solidFill>
              <a:srgbClr val="CA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92240" y="4617720"/>
            <a:ext cx="4023360" cy="658368"/>
          </a:xfrm>
          <a:prstGeom prst="roundRect">
            <a:avLst/>
          </a:prstGeom>
          <a:solidFill>
            <a:srgbClr val="E5EFFA"/>
          </a:solidFill>
          <a:ln w="17780">
            <a:solidFill>
              <a:srgbClr val="23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744"/>
                </a:solidFill>
              </a:defRPr>
            </a:pPr>
            <a:r>
              <a:t>Database + Storage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03920" y="4041648"/>
            <a:ext cx="0" cy="576072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577840" y="5486400"/>
            <a:ext cx="5760720" cy="502920"/>
          </a:xfrm>
          <a:prstGeom prst="roundRect">
            <a:avLst/>
          </a:prstGeom>
          <a:solidFill>
            <a:srgbClr val="EBF3F9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744"/>
                </a:solidFill>
              </a:defRPr>
            </a:pPr>
            <a:r>
              <a:t>Goal: many transactions + isolation + consistency + availability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61568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Operating System in Banking Transaction Processing  |  1/5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4"/>
                </a:solidFill>
              </a:defRPr>
            </a:pPr>
            <a:r>
              <a:t>1. Types of OS Suitable for Banking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978"/>
                </a:solidFill>
              </a:defRPr>
            </a:pPr>
            <a:r>
              <a:t>Different OS characteristics support different parts of a banking workload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3832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744"/>
                </a:solidFill>
              </a:defRPr>
            </a:pPr>
            <a:r>
              <a:t>Multi-user 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338328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744"/>
                </a:solidFill>
              </a:defRPr>
            </a:pPr>
            <a:r>
              <a:t>Many users/processes access shared resources concurrently.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744"/>
                </a:solidFill>
              </a:defRPr>
            </a:pPr>
            <a:r>
              <a:t>Multiprocessing 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57400"/>
            <a:ext cx="338328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744"/>
                </a:solidFill>
              </a:defRPr>
            </a:pPr>
            <a:r>
              <a:t>Multiple CPU cores execute transaction workloads in parallel.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280160"/>
            <a:ext cx="33832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744"/>
                </a:solidFill>
              </a:defRPr>
            </a:pPr>
            <a:r>
              <a:t>Network / Server 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57400"/>
            <a:ext cx="338328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744"/>
                </a:solidFill>
              </a:defRPr>
            </a:pPr>
            <a:r>
              <a:t>Supports clients, network services, storage and secure remote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3977639"/>
            <a:ext cx="8275320" cy="658368"/>
          </a:xfrm>
          <a:prstGeom prst="roundRect">
            <a:avLst/>
          </a:prstGeom>
          <a:solidFill>
            <a:srgbClr val="E5EFFA"/>
          </a:solidFill>
          <a:ln w="17780"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744"/>
                </a:solidFill>
              </a:defRPr>
            </a:pPr>
            <a:r>
              <a:t>Banking Server: Multi-user + Multiprocessing + Network Services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9048" y="3474720"/>
            <a:ext cx="0" cy="502919"/>
          </a:xfrm>
          <a:prstGeom prst="line">
            <a:avLst/>
          </a:prstGeom>
          <a:ln w="25400">
            <a:solidFill>
              <a:srgbClr val="16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5074920"/>
            <a:ext cx="233172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744"/>
                </a:solidFill>
              </a:defRPr>
            </a:pPr>
            <a:r>
              <a:t>Concurrency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5074920"/>
            <a:ext cx="233172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C9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744"/>
                </a:solidFill>
              </a:defRPr>
            </a:pPr>
            <a:r>
              <a:t>Reliability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59" y="5074920"/>
            <a:ext cx="233172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A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744"/>
                </a:solidFill>
              </a:defRPr>
            </a:pPr>
            <a:r>
              <a:t>Security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5074920"/>
            <a:ext cx="233172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744"/>
                </a:solidFill>
              </a:defRPr>
            </a:pPr>
            <a:r>
              <a:t>High availability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61568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Operating System in Banking Transaction Processing  |  2/5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4"/>
                </a:solidFill>
              </a:defRPr>
            </a:pPr>
            <a:r>
              <a:t>2. OS Structure Used in a Banking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978"/>
                </a:solidFill>
              </a:defRPr>
            </a:pPr>
            <a:r>
              <a:t>Layered / modular architecture connects banking services to protected kernel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5669280" cy="658368"/>
          </a:xfrm>
          <a:prstGeom prst="roundRect">
            <a:avLst/>
          </a:prstGeom>
          <a:solidFill>
            <a:srgbClr val="E5EFFA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744"/>
                </a:solidFill>
              </a:defRPr>
            </a:pPr>
            <a:r>
              <a:t>Banking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234440"/>
            <a:ext cx="4297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1C1E"/>
                </a:solidFill>
              </a:defRPr>
            </a:pPr>
            <a:r>
              <a:t>ATM • Mobile Banking • Internet Banking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49039" y="1847088"/>
            <a:ext cx="0" cy="237744"/>
          </a:xfrm>
          <a:prstGeom prst="line">
            <a:avLst/>
          </a:prstGeom>
          <a:ln w="1778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2103120"/>
            <a:ext cx="56692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744"/>
                </a:solidFill>
              </a:defRPr>
            </a:pPr>
            <a:r>
              <a:t>Application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148839"/>
            <a:ext cx="4297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1C1E"/>
                </a:solidFill>
              </a:defRPr>
            </a:pPr>
            <a:r>
              <a:t>Authentication • Transaction Manager • Audit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49039" y="2761487"/>
            <a:ext cx="0" cy="237745"/>
          </a:xfrm>
          <a:prstGeom prst="line">
            <a:avLst/>
          </a:prstGeom>
          <a:ln w="1778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3017520"/>
            <a:ext cx="5669280" cy="658368"/>
          </a:xfrm>
          <a:prstGeom prst="roundRect">
            <a:avLst/>
          </a:prstGeom>
          <a:solidFill>
            <a:srgbClr val="EEF2F8"/>
          </a:solidFill>
          <a:ln w="17780"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744"/>
                </a:solidFill>
              </a:defRPr>
            </a:pPr>
            <a:r>
              <a:t>System Call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063239"/>
            <a:ext cx="4297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1C1E"/>
                </a:solidFill>
              </a:defRPr>
            </a:pPr>
            <a:r>
              <a:t>Controlled entry to kernel services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49039" y="3675887"/>
            <a:ext cx="0" cy="237744"/>
          </a:xfrm>
          <a:prstGeom prst="line">
            <a:avLst/>
          </a:prstGeom>
          <a:ln w="1778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3931920"/>
            <a:ext cx="56692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744"/>
                </a:solidFill>
              </a:defRPr>
            </a:pPr>
            <a:r>
              <a:t>OS Kernel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977639"/>
            <a:ext cx="4297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1C1E"/>
                </a:solidFill>
              </a:defRPr>
            </a:pPr>
            <a:r>
              <a:t>Process • Memory • File • I/O • Network • Security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49039" y="4590288"/>
            <a:ext cx="0" cy="237743"/>
          </a:xfrm>
          <a:prstGeom prst="line">
            <a:avLst/>
          </a:prstGeom>
          <a:ln w="1778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846320"/>
            <a:ext cx="5669280" cy="658368"/>
          </a:xfrm>
          <a:prstGeom prst="roundRect">
            <a:avLst/>
          </a:prstGeom>
          <a:solidFill>
            <a:srgbClr val="FAF3E9"/>
          </a:solidFill>
          <a:ln w="17780">
            <a:solidFill>
              <a:srgbClr val="E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744"/>
                </a:solidFill>
              </a:defRPr>
            </a:pPr>
            <a:r>
              <a:t>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892040"/>
            <a:ext cx="4297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1C1C1E"/>
                </a:solidFill>
              </a:defRPr>
            </a:pPr>
            <a:r>
              <a:t>CPU • RAM • Disk • Network Interface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4055" y="5224780"/>
            <a:ext cx="274320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A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Security + Isolation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14055" y="5860923"/>
            <a:ext cx="2743200" cy="548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C9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Logging + Recovery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61568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Operating System in Banking Transaction Processing  |  3/5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4"/>
                </a:solidFill>
              </a:defRPr>
            </a:pPr>
            <a:r>
              <a:t>3. Role of System Calls in Transaction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978"/>
                </a:solidFill>
              </a:defRPr>
            </a:pPr>
            <a:r>
              <a:t>System calls provide the controlled bridge between banking software and the OS kernel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20574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Banking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2996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requests transfer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655064"/>
            <a:ext cx="429768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1325880"/>
            <a:ext cx="20574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System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2996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open / read / write / send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00600" y="1655064"/>
            <a:ext cx="429768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74920" y="1325880"/>
            <a:ext cx="20574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Kernel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02996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checks + schedules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0" y="1655064"/>
            <a:ext cx="429768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325880"/>
            <a:ext cx="20574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Database / I/O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02996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updates account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64040" y="1655064"/>
            <a:ext cx="429768" cy="0"/>
          </a:xfrm>
          <a:prstGeom prst="line">
            <a:avLst/>
          </a:prstGeom>
          <a:ln w="2286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8359" y="1325880"/>
            <a:ext cx="20574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C9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59" y="2029968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success / error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71800"/>
            <a:ext cx="2834640" cy="566928"/>
          </a:xfrm>
          <a:prstGeom prst="roundRect">
            <a:avLst/>
          </a:prstGeom>
          <a:solidFill>
            <a:srgbClr val="E5EFFA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744"/>
                </a:solidFill>
              </a:defRPr>
            </a:pPr>
            <a:r>
              <a:t>File / Database I/O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C1C1E"/>
                </a:solidFill>
              </a:defRPr>
            </a:pPr>
            <a:r>
              <a:t>• open() / close()</a:t>
            </a:r>
          </a:p>
          <a:p>
            <a:pPr>
              <a:spcAft>
                <a:spcPts val="900"/>
              </a:spcAft>
              <a:defRPr sz="1400">
                <a:solidFill>
                  <a:srgbClr val="1C1C1E"/>
                </a:solidFill>
              </a:defRPr>
            </a:pPr>
            <a:r>
              <a:t>• read() / write()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2971800"/>
            <a:ext cx="283464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744"/>
                </a:solidFill>
              </a:defRPr>
            </a:pPr>
            <a:r>
              <a:t>Process &amp;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65760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C1C1E"/>
                </a:solidFill>
              </a:defRPr>
            </a:pPr>
            <a:r>
              <a:t>• fork() / exec()</a:t>
            </a:r>
          </a:p>
          <a:p>
            <a:pPr>
              <a:spcAft>
                <a:spcPts val="900"/>
              </a:spcAft>
              <a:defRPr sz="1400">
                <a:solidFill>
                  <a:srgbClr val="1C1C1E"/>
                </a:solidFill>
              </a:defRPr>
            </a:pPr>
            <a:r>
              <a:t>• wait() / scheduling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2971800"/>
            <a:ext cx="283464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A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744"/>
                </a:solidFill>
              </a:defRPr>
            </a:pPr>
            <a:r>
              <a:t>Communication &amp;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657600"/>
            <a:ext cx="2560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C1C1E"/>
                </a:solidFill>
              </a:defRPr>
            </a:pPr>
            <a:r>
              <a:t>• socket() / send()</a:t>
            </a:r>
          </a:p>
          <a:p>
            <a:pPr>
              <a:spcAft>
                <a:spcPts val="900"/>
              </a:spcAft>
              <a:defRPr sz="1400">
                <a:solidFill>
                  <a:srgbClr val="1C1C1E"/>
                </a:solidFill>
              </a:defRPr>
            </a:pPr>
            <a:r>
              <a:t>• permission checks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257800"/>
            <a:ext cx="214884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744"/>
                </a:solidFill>
              </a:defRPr>
            </a:pPr>
            <a:r>
              <a:t>Transfer ₹10,000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77639" y="5522976"/>
            <a:ext cx="502921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80560" y="5257800"/>
            <a:ext cx="214884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744"/>
                </a:solidFill>
              </a:defRPr>
            </a:pPr>
            <a:r>
              <a:t>Kernel validates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629400" y="5522976"/>
            <a:ext cx="50292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32320" y="5257800"/>
            <a:ext cx="2148840" cy="5303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C9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744"/>
                </a:solidFill>
              </a:defRPr>
            </a:pPr>
            <a:r>
              <a:t>DB updated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61568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Operating System in Banking Transaction Processing  |  4/5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44"/>
                </a:solidFill>
              </a:defRPr>
            </a:pPr>
            <a:r>
              <a:t>4. Complete Transaction Processing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F6978"/>
                </a:solidFill>
              </a:defRPr>
            </a:pPr>
            <a:r>
              <a:t>Concurrency control, system calls and kernel services work together for safe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16459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2744"/>
                </a:solidFill>
              </a:defRPr>
            </a:pPr>
            <a:r>
              <a:t>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F6978"/>
                </a:solidFill>
              </a:defRPr>
            </a:pPr>
            <a:r>
              <a:t>Transfer request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7400" y="1655064"/>
            <a:ext cx="201168" cy="0"/>
          </a:xfrm>
          <a:prstGeom prst="line">
            <a:avLst/>
          </a:prstGeom>
          <a:ln w="1778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31720" y="1325880"/>
            <a:ext cx="16459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8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2744"/>
                </a:solidFill>
              </a:defRPr>
            </a:pPr>
            <a:r>
              <a:t>Banking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01168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F6978"/>
                </a:solidFill>
              </a:defRPr>
            </a:pPr>
            <a:r>
              <a:t>Authenticate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7640" y="1655064"/>
            <a:ext cx="201168" cy="0"/>
          </a:xfrm>
          <a:prstGeom prst="line">
            <a:avLst/>
          </a:prstGeom>
          <a:ln w="1778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51960" y="1325880"/>
            <a:ext cx="16459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1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2744"/>
                </a:solidFill>
              </a:defRPr>
            </a:pPr>
            <a:r>
              <a:t>Transaction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01168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F6978"/>
                </a:solidFill>
              </a:defRPr>
            </a:pPr>
            <a:r>
              <a:t>Validate balance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97880" y="1655064"/>
            <a:ext cx="201168" cy="0"/>
          </a:xfrm>
          <a:prstGeom prst="line">
            <a:avLst/>
          </a:prstGeom>
          <a:ln w="1778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1325880"/>
            <a:ext cx="16459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2744"/>
                </a:solidFill>
              </a:defRPr>
            </a:pPr>
            <a:r>
              <a:t>System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01168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F6978"/>
                </a:solidFill>
              </a:defRPr>
            </a:pPr>
            <a:r>
              <a:t>Kernel request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1655064"/>
            <a:ext cx="201168" cy="0"/>
          </a:xfrm>
          <a:prstGeom prst="line">
            <a:avLst/>
          </a:prstGeom>
          <a:ln w="1778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92440" y="1325880"/>
            <a:ext cx="16459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A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2744"/>
                </a:solidFill>
              </a:defRPr>
            </a:pPr>
            <a:r>
              <a:t>OS Kernel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01168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F6978"/>
                </a:solidFill>
              </a:defRPr>
            </a:pPr>
            <a:r>
              <a:t>Schedule + protect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38360" y="1655064"/>
            <a:ext cx="201168" cy="0"/>
          </a:xfrm>
          <a:prstGeom prst="line">
            <a:avLst/>
          </a:prstGeom>
          <a:ln w="1778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12680" y="1325880"/>
            <a:ext cx="164592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C9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162744"/>
                </a:solidFill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2011680"/>
            <a:ext cx="1645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F6978"/>
                </a:solidFill>
              </a:defRPr>
            </a:pPr>
            <a:r>
              <a:t>Read /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2926080"/>
            <a:ext cx="10058400" cy="685800"/>
          </a:xfrm>
          <a:prstGeom prst="roundRect">
            <a:avLst/>
          </a:prstGeom>
          <a:solidFill>
            <a:srgbClr val="E5EFFA"/>
          </a:solidFill>
          <a:ln w="17780"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744"/>
                </a:solidFill>
              </a:defRPr>
            </a:pPr>
            <a:r>
              <a:t>Thousands of Transactions → Scheduling + Memory Protection + I/O + Synchronization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69080"/>
            <a:ext cx="32461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0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09160"/>
            <a:ext cx="3063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1C1C1E"/>
                </a:solidFill>
              </a:defRPr>
            </a:pPr>
            <a:r>
              <a:t>Correct account balances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4069080"/>
            <a:ext cx="32461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A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Isolation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4709160"/>
            <a:ext cx="3063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1C1C1E"/>
                </a:solidFill>
              </a:defRPr>
            </a:pPr>
            <a:r>
              <a:t>Transactions do not corrupt each other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069080"/>
            <a:ext cx="32461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C9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744"/>
                </a:solidFill>
              </a:defRPr>
            </a:pPr>
            <a:r>
              <a:t>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709160"/>
            <a:ext cx="3063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1C1C1E"/>
                </a:solidFill>
              </a:defRPr>
            </a:pPr>
            <a:r>
              <a:t>Service continues under heavy load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532120"/>
            <a:ext cx="8503920" cy="566928"/>
          </a:xfrm>
          <a:prstGeom prst="roundRect">
            <a:avLst/>
          </a:prstGeom>
          <a:solidFill>
            <a:srgbClr val="EBF3F9"/>
          </a:solidFill>
          <a:ln w="17780">
            <a:solidFill>
              <a:srgbClr val="162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744"/>
                </a:solidFill>
              </a:defRPr>
            </a:pPr>
            <a:r>
              <a:t>Key takeaway: The OS enables secure, concurrent and reliable transaction processing.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61568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Operating System in Banking Transaction Processing  |  5/5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14C29F-9896-E65E-0E94-D423FE109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462116"/>
            <a:ext cx="8495071" cy="623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44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474</Words>
  <Application>Microsoft Office PowerPoint</Application>
  <PresentationFormat>Widescreen</PresentationFormat>
  <Paragraphs>98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Mohamed Ajmal</cp:lastModifiedBy>
  <cp:revision>4</cp:revision>
  <dcterms:created xsi:type="dcterms:W3CDTF">2026-10-01T05:23:45Z</dcterms:created>
  <dcterms:modified xsi:type="dcterms:W3CDTF">2026-10-06T08:21:54Z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0B0430D58796A2754DD7BD6A04123E44_43</vt:lpwstr>
  </property>
  <property fmtid="{D5CDD505-2E9C-101B-9397-08002B2CF9AE}" pid="3" name="KSOProductBuildVer">
    <vt:lpwstr>1033-12.1.26015.26015</vt:lpwstr>
  </property>
</Properties>
</file>